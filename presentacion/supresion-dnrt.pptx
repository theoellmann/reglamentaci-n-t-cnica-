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Propuesta: suprimir la DNRT derogando los RT que no superan costo-beneficio, delegando los que protegen riesgos reales a organismos sectoriales con fiscalización, y reasignando las funciones residuales OMC/Mercosur. Todo el material citado fue verificado contra fuente primaria.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12344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43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8211312" y="35204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5440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de reglamentos técnicos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(OMC) → agosto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95360" y="3310128"/>
            <a:ext cx="1828800" cy="0"/>
          </a:xfrm>
          <a:prstGeom prst="line">
            <a:avLst/>
          </a:prstGeom>
          <a:noFill/>
          <a:ln w="19050">
            <a:solidFill>
              <a:srgbClr val="3D53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REFORMA INSTITUCIONAL · AGOSTO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7040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Supresión de la Dirección Nacional de Reglamentos Técnicos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Derogar 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protege.  </a:t>
            </a:r>
            <a:pPr indent="0" marL="0">
              <a:buNone/>
            </a:pPr>
            <a:r>
              <a:rPr lang="en-US" sz="17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sí.  </a:t>
            </a:r>
            <a:pPr indent="0" marL="0">
              <a:buNone/>
            </a:pPr>
            <a:r>
              <a:rPr lang="en-US" sz="17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Reasignar 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indelegable.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0350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Nacional de Reglamentos Técnicos · Subsecretaría de Comercio Exterior · Secretaría de Industria, Comercio y de la Pequeña y Mediana Empresa · Ministerio de Economía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propuesta en una página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75304" cy="3749040"/>
          </a:xfrm>
          <a:prstGeom prst="roundRect">
            <a:avLst>
              <a:gd name="adj" fmla="val 2046"/>
            </a:avLst>
          </a:prstGeom>
          <a:solidFill>
            <a:srgbClr val="EDF1F6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47088"/>
            <a:ext cx="566928" cy="566928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1994489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01952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DEROGAR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5798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reglamentos que no protegen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83464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RT de origen nacional que no supere un análisis costo-beneficio. Criterio (Shavell 1984): los riesgos detectables, atribuibles y demandables se controlan mejor con responsabilidad del fabricante + vigilancia de mercado que con certificación previa.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6824" y="1600200"/>
            <a:ext cx="3575304" cy="3749040"/>
          </a:xfrm>
          <a:prstGeom prst="roundRect">
            <a:avLst>
              <a:gd name="adj" fmla="val 2046"/>
            </a:avLst>
          </a:prstGeom>
          <a:solidFill>
            <a:srgbClr val="EDF1F6"/>
          </a:solidFill>
          <a:ln/>
        </p:spPr>
      </p:sp>
      <p:sp>
        <p:nvSpPr>
          <p:cNvPr id="11" name="Shape 8"/>
          <p:cNvSpPr/>
          <p:nvPr/>
        </p:nvSpPr>
        <p:spPr>
          <a:xfrm>
            <a:off x="4562856" y="1847088"/>
            <a:ext cx="566928" cy="566928"/>
          </a:xfrm>
          <a:prstGeom prst="ellipse">
            <a:avLst/>
          </a:prstGeom>
          <a:solidFill>
            <a:srgbClr val="2A7F6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257" y="199448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66944" y="1901952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DELEGAR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266944" y="215798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que cubren riesgos reales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62856" y="283464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organismos sectoriales que entienden el riesgo y fiscalizan de verdad: Salud/SENASA, SRT, Energía, Transporte/ANSV, la autoridad ambiental, el ENRGE (ex ENARGAS) y los códigos de edificación locales. Ninguna transferencia sin receptor con presupuesto, inspectores y métricas.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65008" y="1600200"/>
            <a:ext cx="3575304" cy="3749040"/>
          </a:xfrm>
          <a:prstGeom prst="roundRect">
            <a:avLst>
              <a:gd name="adj" fmla="val 2046"/>
            </a:avLst>
          </a:prstGeom>
          <a:solidFill>
            <a:srgbClr val="EDF1F6"/>
          </a:solidFill>
          <a:ln/>
        </p:spPr>
      </p:sp>
      <p:sp>
        <p:nvSpPr>
          <p:cNvPr id="17" name="Shape 13"/>
          <p:cNvSpPr/>
          <p:nvPr/>
        </p:nvSpPr>
        <p:spPr>
          <a:xfrm>
            <a:off x="8321040" y="1847088"/>
            <a:ext cx="566928" cy="566928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441" y="1994489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25128" y="1901952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REASIGNAR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9025128" y="215798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funciones indelegables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83464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focal OTC/OMC, coordinación del SGT 3 del Mercosur y coordinador TBT del acuerdo UE-Mercosur → Cancillería (modelo Chile) o instituto técnico (modelo Brasil-INMETRO / EE.UU.-NIST; equivalente local: INTI).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14213D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22960" y="5577840"/>
            <a:ext cx="10543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Administrativa de JGM + decreto simple + resoluciones por familia + declaración 15.2 a la OMC.  </a:t>
            </a:r>
            <a:pPr indent="0" marL="0">
              <a:buNone/>
            </a:pPr>
            <a:r>
              <a:rPr lang="en-US" sz="1300" b="1" dirty="0">
                <a:solidFill>
                  <a:srgbClr val="E8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ley, ni facultades delegadas, ni Ley 26.122.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(y qué no es) la DNRT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EDF1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 FORMAL — DA 449/2023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“Elaborar y monitorear la aplicación de Reglamentos Técnicos y Procedimientos de Evaluación de la Conformidad, en el marco del Acuerdo sobre Obstáculos Técnicos al Comercio de la OMC.”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no es fiscalizar. </a:t>
            </a:r>
            <a:pPr indent="0" marL="0">
              <a:buNone/>
            </a:pPr>
            <a:r>
              <a:rPr lang="en-US" sz="12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mandato no incluye poder de policía ni régimen sancionatorio propio.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69164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QUE HOY CONCENTRA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057400"/>
            <a:ext cx="402336" cy="402336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5407" y="2162007"/>
            <a:ext cx="193121" cy="19312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967728" y="2020824"/>
            <a:ext cx="4672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 los RT de la órbita de Comercio (7 familias vigentes: eléctricos, EPP, ascensores, construcción, consumo, eficiencia energética, textil-calzado)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0" y="2679192"/>
            <a:ext cx="402336" cy="402336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407" y="2783799"/>
            <a:ext cx="193121" cy="19312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967728" y="2642616"/>
            <a:ext cx="4672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la evaluación de la conformidad (Res. 237/2024): certificadores, DJC, marcado QR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0" y="3300984"/>
            <a:ext cx="402336" cy="402336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407" y="3405591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67728" y="3264408"/>
            <a:ext cx="4672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focal OTC-OMC: notificaciones (~45/año) y consultas de otros países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0" y="3922776"/>
            <a:ext cx="402336" cy="402336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407" y="4027383"/>
            <a:ext cx="193121" cy="19312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67728" y="3886200"/>
            <a:ext cx="4672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la coordinación del SGT 3 “Reglamentos Técnicos” del Mercosur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70916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F9ECEC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2296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DETERIORO DE LA PROPIA FUNCIÓN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193792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Acefalía en 2024 </a:t>
            </a:r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(encomienda de firma, Res. ME 39/2024) con “demoras en la emisión de los certificados” admitidas por la propia área (Disp. 1/2024).   </a:t>
            </a:r>
            <a:pPr indent="0" marL="0">
              <a:buNone/>
            </a:pPr>
            <a:r>
              <a:rPr lang="en-US" sz="1200" b="1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puntofocal.gob.ar fuera de servicio </a:t>
            </a:r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 503 al 31/8/2026), pese a que el acuerdo UE-Mercosur exige un sitio oficial con todos los RT vigentes (art. 5.9, vigente desde el 1/5/2026).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DA 449/2023 (transcripta en Disp. DNRT 33/2023); argentina.gob.ar/economia/industria-y-comercio/reglamentos-tecnicos; Res. ME 39/2024; verificación directa del sitio (31/8/2026).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CENTRAL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Dicta reglas que no puede hacer cumplir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" cy="530352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829532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7335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Sanciona otro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26280" y="1673352"/>
            <a:ext cx="7114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infracciones a los RT se sancionan por la Ley 24.240 y el Decreto 274/2019 — a cargo de la Subsecretaría de Defensa del Consumidor y Lealtad Comercial y de las provincias. La Res. 313/2025 lo dice textualmente.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52928"/>
            <a:ext cx="530352" cy="530352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2990820"/>
            <a:ext cx="254569" cy="25456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346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Aduana quedó dispensada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526280" y="2834640"/>
            <a:ext cx="7114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Res. 237/2024 (art. 6) retiró a la DGA del control de los RT: el único control sistemático que existía —el de frontera— fue reemplazado por verificación documental ex post, sin cuerpo de inspectores.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14216"/>
            <a:ext cx="530352" cy="530352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2" y="4152108"/>
            <a:ext cx="254569" cy="25456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9592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primer protocolo de vigilancia llegó en 2026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3995928"/>
            <a:ext cx="7114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Res. 56/2026 aprobó el primer Protocolo de Vigilancia de Mercado, derogando los arts. 23-29 de la Res. 100/1983: más de cuatro décadas de RT sin esquema formalizado de fiscalización.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5175504"/>
            <a:ext cx="530352" cy="530352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2" y="5313396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157216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OMC ya lo había descripto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526280" y="5157216"/>
            <a:ext cx="7114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WT/TPR/S/412 (2021, §3.211): el monitoreo de la DNRT es “ad hoc; no se fija un plazo pre-establecido para la revisión de los reglamentos técnicos”.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primarias: Res. SIC 237/2024 y 56/2026, Res. SIC 313/2025 (InfoLeg/Boletín Oficial); OMC WT/TPR/S/412.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PRESUPUESTARIA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Estado nunca se propuso fiscalizarla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42616" cy="3566160"/>
          </a:xfrm>
          <a:prstGeom prst="roundRect">
            <a:avLst>
              <a:gd name="adj" fmla="val 2768"/>
            </a:avLst>
          </a:prstGeom>
          <a:solidFill>
            <a:srgbClr val="EDF1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920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126.000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firmados por año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2918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física oficial “Certificaciones Técnicas” (proyecto de presupuesto 2025). La producción del área se mide en papeles.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4136" y="1691640"/>
            <a:ext cx="2642616" cy="3566160"/>
          </a:xfrm>
          <a:prstGeom prst="roundRect">
            <a:avLst>
              <a:gd name="adj" fmla="val 2768"/>
            </a:avLst>
          </a:prstGeom>
          <a:solidFill>
            <a:srgbClr val="EDF1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75304" y="1920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inspección propias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75304" y="32918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ninguna meta de vigilancia o fiscalización de RT asociada a la DNRT en toda la jurisdicción 50 (verificado sobre el CSV oficial completo).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691640"/>
            <a:ext cx="2642616" cy="3566160"/>
          </a:xfrm>
          <a:prstGeom prst="roundRect">
            <a:avLst>
              <a:gd name="adj" fmla="val 2768"/>
            </a:avLst>
          </a:prstGeom>
          <a:solidFill>
            <a:srgbClr val="EDF1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920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76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23.400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inspecciones… de otra área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918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meta de inspección del programa: “Detección de Prácticas Fraudulentas”, de Lealtad Comercial. Cayó 27% (32.000 en 2024).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25128" y="1691640"/>
            <a:ext cx="2642616" cy="3566160"/>
          </a:xfrm>
          <a:prstGeom prst="roundRect">
            <a:avLst>
              <a:gd name="adj" fmla="val 2768"/>
            </a:avLst>
          </a:prstGeom>
          <a:solidFill>
            <a:srgbClr val="EDF1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26296" y="1920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 83 M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devengado 2025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32918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“Gestión Comercial Externa” (aloja a la DNRT). El ahorro fiscal directo es marginal: el costo real del régimen lo pagan los privados.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5778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</a:t>
            </a:r>
            <a:pPr indent="0" marL="0">
              <a:buNone/>
            </a:pPr>
            <a:r>
              <a:rPr lang="en-US" sz="13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capacidad inspectiva planificada del programa está en Lealtad Comercial. El caso económico de la supresión no es la caja: son los costos privados evitados y la racionalidad institucional.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metas físicas y crédito de los proyectos de presupuesto 2024-2026, repositorio oficial DGSIAF (dgsiaf-repo.mecon.gob.ar). Presupuestos prorrogados: metas del proyecto oficial del PEN.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REAL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mercado que importa la ignora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5304" cy="2880360"/>
          </a:xfrm>
          <a:prstGeom prst="roundRect">
            <a:avLst>
              <a:gd name="adj" fmla="val 2540"/>
            </a:avLst>
          </a:prstGeom>
          <a:solidFill>
            <a:srgbClr val="EDF1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01952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30-40%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7004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mercado de juguetes es informal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55264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la CAIJ: contrabando, falsificación y copias que eluden la certificación obligatoria vigente desde 2005 (Res. 163/2005).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75304" cy="2880360"/>
          </a:xfrm>
          <a:prstGeom prst="roundRect">
            <a:avLst>
              <a:gd name="adj" fmla="val 2540"/>
            </a:avLst>
          </a:prstGeom>
          <a:solidFill>
            <a:srgbClr val="EDF1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35424" y="1901952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de 10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267004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anteojos vendidos son ilegales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35424" y="3255264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las cámaras del sector: 5 a 7 millones de unidades ilegales por año, sin certificación ni garantía de calidad.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575304" cy="2880360"/>
          </a:xfrm>
          <a:prstGeom prst="roundRect">
            <a:avLst>
              <a:gd name="adj" fmla="val 2540"/>
            </a:avLst>
          </a:prstGeom>
          <a:solidFill>
            <a:srgbClr val="EDF1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3608" y="1901952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dic-2025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267004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juguetes retirados por la CPSC, a la venta acá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3255264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CAIJ detectó a la venta online en Argentina juguetes retirados semanas antes en EE.UU. (asfixia, ftalatos, baterías botón), ingresados por courier sin ningún control.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892040"/>
            <a:ext cx="10451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sin fiscalización = impuesto al formal + ventaja al informal.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argentina es directa: el cumplimiento responde a los recursos de inspección, no a la letra de la norma (Ronconi 2010, ILR Review).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sectoriales (CAIJ, cámara óptica) reportadas por prensa: usar como estimaciones sectoriales, no como estadística oficial. Casos CPSC: Infobae 15/12/2025.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EMPÍRICA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dice la literatura (verificada contra fuente)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58968" cy="1389888"/>
          </a:xfrm>
          <a:prstGeom prst="roundRect">
            <a:avLst>
              <a:gd name="adj" fmla="val 3947"/>
            </a:avLst>
          </a:prstGeom>
          <a:solidFill>
            <a:srgbClr val="EDF1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8096" y="1755648"/>
            <a:ext cx="5020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US$ 425.000 por firma (4,7% del valor agregado)  </a:t>
            </a:r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costo fijo promedio de cumplir estándares de producto en países en desarrollo.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670048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Maskus, Otsuki &amp; Wilson — Banco Mundial, 2005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90488" y="1645920"/>
            <a:ext cx="5458968" cy="1389888"/>
          </a:xfrm>
          <a:prstGeom prst="roundRect">
            <a:avLst>
              <a:gd name="adj" fmla="val 3947"/>
            </a:avLst>
          </a:prstGeom>
          <a:solidFill>
            <a:srgbClr val="EDF1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9944" y="1755648"/>
            <a:ext cx="5020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~4% manufactura · ~20% agro  </a:t>
            </a:r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arancel equivalente de las medidas no arancelarias; afectan el 77% del comercio mundial.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9944" y="2670048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UNCTAD – Banco Mundial, 2018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5458968" cy="1389888"/>
          </a:xfrm>
          <a:prstGeom prst="roundRect">
            <a:avLst>
              <a:gd name="adj" fmla="val 3947"/>
            </a:avLst>
          </a:prstGeom>
          <a:solidFill>
            <a:srgbClr val="EDF1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" y="3291840"/>
            <a:ext cx="5020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regulación de entrada → más informalidad y corrupción  </a:t>
            </a:r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…y ninguna mejora en la calidad de los bienes (85 países).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420624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Djankov, La Porta, López-de-Silanes &amp; Shleifer — QJE, 2002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90488" y="3182112"/>
            <a:ext cx="5458968" cy="1389888"/>
          </a:xfrm>
          <a:prstGeom prst="roundRect">
            <a:avLst>
              <a:gd name="adj" fmla="val 3947"/>
            </a:avLst>
          </a:prstGeom>
          <a:solidFill>
            <a:srgbClr val="EDF1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9944" y="3291840"/>
            <a:ext cx="5020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cumplimiento sigue a los inspectores, no a la letra  </a:t>
            </a:r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con datos argentinos: la registración responde a los recursos de inspección provinciales.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4206240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Ronconi — ILR Review, 2010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718304"/>
            <a:ext cx="5458968" cy="1389888"/>
          </a:xfrm>
          <a:prstGeom prst="roundRect">
            <a:avLst>
              <a:gd name="adj" fmla="val 3947"/>
            </a:avLst>
          </a:prstGeom>
          <a:solidFill>
            <a:srgbClr val="EDF1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4828032"/>
            <a:ext cx="5020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 de que la certificación previa reduzca accidentes  </a:t>
            </a:r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“ningún efecto beneficioso significativo de las acciones de la CPSC… demasiado pequeño para estimarse”.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5742432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Viscusi — J. Law &amp; Economics, 1985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0488" y="4718304"/>
            <a:ext cx="5458968" cy="1389888"/>
          </a:xfrm>
          <a:prstGeom prst="roundRect">
            <a:avLst>
              <a:gd name="adj" fmla="val 3947"/>
            </a:avLst>
          </a:prstGeom>
          <a:solidFill>
            <a:srgbClr val="EDF1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9944" y="4828032"/>
            <a:ext cx="5020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declaración del proveedor funcionó en la UE  </a:t>
            </a:r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certificación de tercera parte por DJC aumentó las importaciones sin crisis de seguridad.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5742432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Fliess, Gonzales &amp; Schonfeld — OCDE, 2008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Matices que la propuesta incorpora: algunos RT expanden demanda al reducir asimetrías de información (Cadot et al., OCDE 2018) → análisis caso por caso, nunca derogación indiscriminada.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STOCK YA SE PODÓ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estructura sobrevivió a su objeto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5B76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27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de RT en Comercio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OMC, Cuadro 3.37 (2021)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20116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23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7373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31272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vigentes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SIC, agosto 2026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80% del stock podado por la propia gestión 2024-2026 — y la dirección sigue en pie.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69164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PODA 2024-2026 (VERIFICADA EN B.O./INFOLEG)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0574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075688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 49 (DJCP textil) · 108 (7 RT derogados en seco) · 156-159 (fin del control aduanero de etiquetado) · 236-237 (construcción + marco general; Aduana dispensada) · 438 (eficiencia energética)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99008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3008376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16-27/2025 (eléctrica, EPP y ascensores a DJC; derogación de cables, presión y válvulas) · Dec. 196 (fin del CHAS) · Dec. 431 (pilas) · Res. 313 (juguetes, bicis, encendedores, anteojos, tableros) · Dec. 892 (equivalencia internacional)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92277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3941064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 56 (primer protocolo de vigilancia de mercado) · Res. Conjunta 1 (pilas por DJC)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1421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029200"/>
            <a:ext cx="10451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suprimir el órgano y no solo las normas: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 eliminó el 49% de sus ~11.000 regulaciones en 1998 (OCDE: “logro sin igual”); en 2002 la reducción neta había caído al 33% por normas nuevas. Mientras exista una oficina que se mide en trámites firmados, el stock vuelve a crecer.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INTERNACIONAL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Ningún país serio lo organiza así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EE.UU.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627632"/>
            <a:ext cx="3767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Sectorial puro: CPSC (vigilancia ex post + recalls), FDA, NHTSA — hasta los autos se venden por autocertificación del fabricante (49 U.S.C. §30115). NIST solo coordina normas voluntarias.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190488" y="16276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Unión Europea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882128" y="1627632"/>
            <a:ext cx="3767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esenciales + marcado CE con autoevaluación del fabricante + vigilancia descentralizada (Regl. 2019/1020). Safety Gate: 4.671 alertas y retiros en 2025.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60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Reino Unido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560320"/>
            <a:ext cx="3767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OPSS: un ejecutor horizontal de vigilancia; los reglamentos los dictan los departamentos sectoriales.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190488" y="25603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882128" y="2560320"/>
            <a:ext cx="3767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eléctricos los reglamenta y fiscaliza la SEC — organismo del sector energía, no del ministerio de comercio. El punto OTC está en la Cancillería (SUBREI).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9300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Perú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493008"/>
            <a:ext cx="3767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RT los dictan los ministerios sectoriales; MINCETUR solo filtra obstáculos al comercio y notifica a la OMC.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190488" y="349300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 · NZ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82128" y="3493008"/>
            <a:ext cx="3767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 el ministro; fiscalizan ACCC / Commerce Commission; riesgos específicos en reguladores sectoriales.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2569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Brasil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4425696"/>
            <a:ext cx="3767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INMETRO (instituto técnico): notificante, enquiry point y soporte del SGT 3.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4352544"/>
            <a:ext cx="5596128" cy="932688"/>
          </a:xfrm>
          <a:prstGeom prst="roundRect">
            <a:avLst>
              <a:gd name="adj" fmla="val 5882"/>
            </a:avLst>
          </a:prstGeom>
          <a:solidFill>
            <a:srgbClr val="F9EC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90488" y="442569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México ⚠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882128" y="4425696"/>
            <a:ext cx="3675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análogo de la DNRT (DGN en Economía). OCDE 2020: “sin visión cohesiva para promover el cumplimiento”, cultura de cumplimiento “débil”, enforcement solo en sectores exportadores.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EDF1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4864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patrón: </a:t>
            </a:r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 y fiscaliza quien entiende el riesgo — o se reemplaza la certificación previa por responsabilidad del fabricante + vigilancia dotada. La dirección centralizada en el área de comercio es prescindible; donde existe, la OCDE la señala como el problema.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OMC · MERCOSUR · 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obligaciones internacionales no lo impiden — condicionan el cómo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5304" cy="4206240"/>
          </a:xfrm>
          <a:prstGeom prst="roundRect">
            <a:avLst>
              <a:gd name="adj" fmla="val 2046"/>
            </a:avLst>
          </a:prstGeom>
          <a:solidFill>
            <a:srgbClr val="EDF1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OMC — Acuerdo OTC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11810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solo tres funciones: autoridad notificante única (art. 10.10), enquiry point (10.1) y transparencia (2.9-2.12). No exige dictar RT ni un organismo determinado.
</a:t>
            </a:r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oficial OMC: la ubicación “is up to each individual member”; el 90% de los enquiry points opera con 1-4 personas a tiempo parcial. Mudarlo = notificar una declaración 15.2 revisada. Carga argentina: ~45 notificaciones/año.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06824" y="1691640"/>
            <a:ext cx="3575304" cy="4206240"/>
          </a:xfrm>
          <a:prstGeom prst="roundRect">
            <a:avLst>
              <a:gd name="adj" fmla="val 2046"/>
            </a:avLst>
          </a:prstGeom>
          <a:solidFill>
            <a:srgbClr val="EDF1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35424" y="18745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6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Mercosur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2286000"/>
            <a:ext cx="311810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obligación de cumplir las Resoluciones GMC (Ouro Preto, arts. 38/40/42) es del Estado, no de una dirección. Los RTM internalizados no se derogan unilateralmente: se transfieren o se renegocian en el SGT 3.
</a:t>
            </a:r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representación sectorial ya es práctica: el SGT 11 lo maneja Salud/ANMAT, y ANMAT ya internaliza Resoluciones GMC por disposición propia (Disp. 2576/2026).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65008" y="1691640"/>
            <a:ext cx="3575304" cy="4206240"/>
          </a:xfrm>
          <a:prstGeom prst="roundRect">
            <a:avLst>
              <a:gd name="adj" fmla="val 2046"/>
            </a:avLst>
          </a:prstGeom>
          <a:solidFill>
            <a:srgbClr val="EDF1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93608" y="18745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Acuerdo UE-Mercosur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286000"/>
            <a:ext cx="311810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TBT vigente desde el 1/5/2026: exige nominar un “coordinador de capítulo” (art. 5.13) — un rol, nominable en cualquier repartición (en la UE lo ejerce la Comisión) — y un sitio oficial con todos los RT vigentes (art. 5.9).
</a:t>
            </a:r>
            <a:pPr indent="0" marL="0">
              <a:buNone/>
            </a:pPr>
            <a:r>
              <a:rPr lang="en-US" sz="11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con la DNRT en pie, ese sitio (puntofocal.gob.ar) está caído: el statu quo ya incumple.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points comparados: EE.UU. → NIST · Chile → Cancillería (SUBREI) · Brasil → INMETRO · Perú → INACAL + MINCETUR. Fuentes: texto del Acuerdo OTC (wto.org), guía OMC/ITC, iTA cap. 5 (Comisión Europea), Leyes 24.560 y 25.663.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Suprimir la DNRT en tres movimientos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1C2B4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7180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DEROGAR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RT de origen nacional que no superen costo-beneficio: seguridad eléctrica ya en DJC, etiquetados informativos, productos intermedios. La vigilancia de mercado y la responsabilidad del fabricante los reemplazan.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06824" y="1828800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1C2B4F"/>
          </a:solidFill>
          <a:ln/>
        </p:spPr>
      </p:sp>
      <p:sp>
        <p:nvSpPr>
          <p:cNvPr id="10" name="Shape 7"/>
          <p:cNvSpPr/>
          <p:nvPr/>
        </p:nvSpPr>
        <p:spPr>
          <a:xfrm>
            <a:off x="4581144" y="2148840"/>
            <a:ext cx="640080" cy="640080"/>
          </a:xfrm>
          <a:prstGeom prst="ellipse">
            <a:avLst/>
          </a:prstGeom>
          <a:solidFill>
            <a:srgbClr val="2A7F6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23152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1144" y="297180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DELEGAR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581144" y="347472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familia con riesgo real va al organismo que ya tiene la competencia sustantiva y los inspectores: Salud/SENASA, SRT, Energía, Transporte/ANSV, la autoridad ambiental, el ENRGE, los códigos locales. Con partida, dotación y métricas en el mismo acto.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65008" y="1828800"/>
            <a:ext cx="3575304" cy="3931920"/>
          </a:xfrm>
          <a:prstGeom prst="roundRect">
            <a:avLst>
              <a:gd name="adj" fmla="val 2046"/>
            </a:avLst>
          </a:prstGeom>
          <a:solidFill>
            <a:srgbClr val="1C2B4F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9328" y="2148840"/>
            <a:ext cx="640080" cy="640080"/>
          </a:xfrm>
          <a:prstGeom prst="ellipse">
            <a:avLst/>
          </a:prstGeom>
          <a:solidFill>
            <a:srgbClr val="8FA3C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749" y="23152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9328" y="297180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REASIGNAR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8339328" y="347472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focal OTC, SGT 3 y coordinador TBT UE-Mercosur pasan a Cancillería o al INTI, sin un solo día de vacancia. Es lo que hacen Chile, Brasil y EE.UU.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movimientos van en un mismo paquete normativo, con tabla de reasignación norma por norma: ninguna obligación queda vigente sin ventanilla.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DELEGACIÓN · 1 DE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Familias con receptor sectorial real → transferir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670255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competencia ya existe (base vigente)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6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Envases en contacto con alimentos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7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Sanitaria (Salud) + SENASA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CAA Cap. IV (arts. 186 bis/tris; GMC internalizadas por RC 6, 9 y 11/2026). Dec. 697/2026: el SENASA ya controla, incluida la determinación de materiales de envases. Consumado de facto.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7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ENRGE (ex ENARGAS)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Facultades de la Ley 24.076 (art. 52), hoy en el ENRGE (Dec. 452/2025 y 318/2026): reglamenta, registra y fiscaliza de punta a punta. La prueba de que el modelo sectorial funciona.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Cascos, 52 autopartes (Anexo C) y LCM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7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Secretaría de Transporte / ANSV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24.449 y Dec. 779/95; el Dec. 196/2025 eliminó el CHAS citando el estudio de la ANSV. La Res. 18/2026 concentró LCM y fiscalización en Política Industrial (con el INTI): ese bloque se reasigna completo.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Elementos de protección personal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7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SRT (Trabajo)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Leyes 19.587 y 24.557; Res. SRT 299/2011; el art. 188 del Dec. 351/79 ya exige registro de fabricantes ante Trabajo. Doble ventanilla documentada.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Etiquetado de eficiencia energética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7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Secretaría de Energía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Dec. 274/2019 (art. 22): los estándares se fijan con intervención previa de Energía (Res. SE 426/2025, cuyo cronograma depende de la DNRT). Salvedad: exige tocar el art. 22 (rango legislativo).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Metrología legal (SIMELA)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7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Defensa del Consumidor y Lealtad Comercial (propia)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ejecución ya se privatizó (Res. INTI 213/2025: laboratorios acreditados OAA); la Subsecretaría ya reconoce laboratorios (Disp. 640 y 669/2026). Autoridad designable por decreto (Dec. 788/2003 y 960/2017).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Acero, cemento, tableros, mat. eléctricos (Res. 236/2024)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7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Códigos locales + INTI-CIRSOC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seguridad estructural se fiscaliza en obra; los CIRSOC son obligatorios en obra pública. Se mantiene ensayo de tercera parte para desempeño al fuego.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Pilas y baterías primarias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7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Autoridad ambiental (Sec. de Turismo, Ambiente y Deportes)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Dec. 431/2025 ya le asignó los parámetros ambientales de la Ley 26.184; en Comercio solo quedó la pata técnico-comercial, que se elimina.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contra Boletín Oficial/InfoLeg, incluidas denominaciones vigentes a septiembre de 2026. Condición transversal: ninguna transferencia sin acta de capacidad (partida, dotación inspectiva, métricas públicas).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DELEGACIÓN · 2 DE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receptor sectorial → consolidar la vigilancia de mercado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074152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2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Régimen vigente y propuesta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272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eléctrica y máquinas eléctricas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Hoy: DJC respaldada en certificación de tercera parte OBLIGATORIA (Res. 16 y 17/2025) con reconocimiento internacional (Dec. 892/2025). Propuesta: derogar esa certificación remanente → DJC + vigilancia; se mantiene el QR. La única fila donde la derogación está pendiente.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Juguetes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reconvertidos (Res. 313/2025): DJC + ensayo de tercera parte obligatorio. Se mantiene el ensayo infantil (CPSIA: 407-0 en la votación inicial). Es RTM (GMC 23/04, art. 1 de la Res. 163/2005 vigente): sus requisitos no se derogan unilateralmente.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Encendedores y anteojos de sol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reconvertidos (Res. 313/2025): DJC + ensayo (uso infantil / filtrado UV). Origen puramente nacional: derogables si el costo-beneficio da negativo.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Bicicletas infantiles y tableros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reconvertidos: solo rotulado. Bicicletas es RTM (GMC 45/03, norma NM 301): se preserva o renegocia. Tableros: nacional.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Etiquetado de textiles y calzado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al consumidor → régimen general de información engañosa (Dec. 274/2019, arts. 5-6). Textil es RTM (GMC 62/18): se muda o renegocia. Calzado: nacional → derogable.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Marcado de conformidad y marco general (Res. 237/2024)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régimen transversal del que depende toda la arquitectura DJC/QR: pasa al Protocolo de Vigilancia (Res. 56/2026) bajo la Subsecretaría de Defensa del Consumidor y Lealtad Comercial.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80644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jurídico: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RT Mercosur internalizados nunca se derogan unilateralmente (Ouro Preto, arts. 38, 40 y 42): se muda el organismo de aplicación o se renegocia en el SGT 3. La Res. 313/2025 ya probó la técnica: derogó la certificación sin tocar los RTM.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 JURÍDICA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hace con la lapicera que ya tiene el Ejecutivo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792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7335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Administrativa de JGM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73352"/>
            <a:ext cx="6885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la DA 449/2023 y suprime la DNRT. Las direcciones nacionales son estructura de “primer nivel operativo”: nacen y mueren por DA (art. 100 inc. 1 CN). La DNRT nació así (DA 1080/2020).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6547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6090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Decreto simple (art. 99 inc. 1 CN)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660904"/>
            <a:ext cx="6885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se mueven objetivos entre secretarías o ministerios. Precedente directo: el Decreto 293/2024 ya reubicó la DNRT una vez.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530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4845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Resoluciones por familia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648456"/>
            <a:ext cx="6885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cada RT: transferencia al receptor o derogación. Casi todo el stock es de rango resolución (las excepciones —pilas, metrología— ya tienen vía resuelta o requieren análisis puntual).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54296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405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63600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Declaración 15.2 revisada ante la OMC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4636008"/>
            <a:ext cx="6885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trámite administrativo que muda el punto focal, según la guía oficial de la OMC. No es una renegociación.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EDF1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6692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ley. Sin facultades delegadas (vencieron el 8/7/2025). Sin revisión por Ley 26.122.  </a:t>
            </a:r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Precedentes vigentes: AFIP→ARCA (Dec. 953/2024), INADI (Dec. 696/2024). La vía del Dec. 462/2025 (INTI/INTA, rechazado por el Congreso) no aplica: aquel tocaba organismos creados por ley.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ADVERSARIAL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objeciones serias, respondidas de frente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977640" cy="1042416"/>
          </a:xfrm>
          <a:prstGeom prst="roundRect">
            <a:avLst>
              <a:gd name="adj" fmla="val 5263"/>
            </a:avLst>
          </a:prstGeom>
          <a:solidFill>
            <a:srgbClr val="F9EC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7373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 venden juguetes que la CPSC retiró en EE.UU.”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682496"/>
            <a:ext cx="68397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Cierto — y entraron con la certificación obligatoria vigente: prueba de que el régimen actual no protege el mercado real. Se responde creando un sistema público de alertas y recalls conectado a Safety Gate/CPSC, con obligaciones para los marketplaces.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3977640" cy="1042416"/>
          </a:xfrm>
          <a:prstGeom prst="roundRect">
            <a:avLst>
              <a:gd name="adj" fmla="val 5263"/>
            </a:avLst>
          </a:prstGeom>
          <a:solidFill>
            <a:srgbClr val="F9EC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889504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“Transferir no resuelve: los receptores también están débiles.”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834640"/>
            <a:ext cx="68397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objeción más seria (Ronconi: el cumplimiento sigue a los inspectores). Por eso la regla es capacidad primero: ninguna familia se transfiere sin receptor con partida, dotación y métricas; donde no hay receptor, se dota antes la vigilancia de Lealtad Comercial.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3977640" cy="1042416"/>
          </a:xfrm>
          <a:prstGeom prst="roundRect">
            <a:avLst>
              <a:gd name="adj" fmla="val 5263"/>
            </a:avLst>
          </a:prstGeom>
          <a:solidFill>
            <a:srgbClr val="F9EC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404164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Mercosur lo prohíbe.”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986784"/>
            <a:ext cx="68397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la obligación es del Estado, no de una dirección. Los RTM quedan fuera de la guillotina (se transfieren o renegocian) y el punto focal, el SGT 3 y el coordinador TBT se reasignan sin vacancia, en el mismo instrumento.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3977640" cy="1042416"/>
          </a:xfrm>
          <a:prstGeom prst="roundRect">
            <a:avLst>
              <a:gd name="adj" fmla="val 5263"/>
            </a:avLst>
          </a:prstGeom>
          <a:solidFill>
            <a:srgbClr val="F9EC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519379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“Grenfell y las ‘leaky homes’ muestran a dónde lleva esto.”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5138928"/>
            <a:ext cx="68397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fallas de certificación capturada o de autodeclaración sin ningún contralor; sus correcciones fortalecieron la vigilancia y el ensayo independiente, no la certificación estatal universal. Por eso el ensayo de tercera parte se mantiene para productos infantiles y alto riesgo.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en contra completo (8 objeciones con fuentes) y sus respuestas están en el informe de sustento (docs/informe-supresion-dnrt.md).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PROPUESTA ABSORBE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Ocho condiciones de diseño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365760" cy="365760"/>
          </a:xfrm>
          <a:prstGeom prst="ellipse">
            <a:avLst/>
          </a:prstGeom>
          <a:solidFill>
            <a:srgbClr val="2A7F6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1777594"/>
            <a:ext cx="175565" cy="1755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8992" y="1645920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vacancia internacional.  </a:t>
            </a:r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instrumento reasigna punto focal OTC, SGT 3 y coordinador TBT UE-Mercosur, y migra el sitio de RT vigentes.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90488" y="1682496"/>
            <a:ext cx="365760" cy="365760"/>
          </a:xfrm>
          <a:prstGeom prst="ellipse">
            <a:avLst/>
          </a:prstGeom>
          <a:solidFill>
            <a:srgbClr val="2A7F6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586" y="1777594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20840" y="1645920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Mercosur fuera de la guillotina.  </a:t>
            </a:r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derogan RT de origen nacional; los internalizados se transfieren o renegocian.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816352"/>
            <a:ext cx="365760" cy="365760"/>
          </a:xfrm>
          <a:prstGeom prst="ellipse">
            <a:avLst/>
          </a:prstGeom>
          <a:solidFill>
            <a:srgbClr val="2A7F6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2911450"/>
            <a:ext cx="175565" cy="1755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78992" y="2779776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primero.  </a:t>
            </a:r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de mercado dotada (presupuesto, plan de muestreo por riesgo, laboratorios) antes o junto con cada baja. La Res. 56/2026 es el embrión — se potencia en Defensa del Consumidor.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190488" y="2816352"/>
            <a:ext cx="365760" cy="365760"/>
          </a:xfrm>
          <a:prstGeom prst="ellipse">
            <a:avLst/>
          </a:prstGeom>
          <a:solidFill>
            <a:srgbClr val="2A7F6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586" y="2911450"/>
            <a:ext cx="175565" cy="1755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720840" y="2779776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 parte donde importa.  </a:t>
            </a:r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independiente obligatorio para productos infantiles y categorías con riesgo letal (desempeño al fuego).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48640" y="3950208"/>
            <a:ext cx="365760" cy="365760"/>
          </a:xfrm>
          <a:prstGeom prst="ellipse">
            <a:avLst/>
          </a:prstGeom>
          <a:solidFill>
            <a:srgbClr val="2A7F6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8" y="4045306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78992" y="3913632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recalls públicos.  </a:t>
            </a:r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tipo Safety Gate/CPSC, con feeds automáticos de las jurisdicciones del Dec. 892/2025 y obligaciones para marketplaces.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190488" y="3950208"/>
            <a:ext cx="365760" cy="365760"/>
          </a:xfrm>
          <a:prstGeom prst="ellipse">
            <a:avLst/>
          </a:prstGeom>
          <a:solidFill>
            <a:srgbClr val="2A7F6F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586" y="4045306"/>
            <a:ext cx="175565" cy="17556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720840" y="3913632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incidentes.  </a:t>
            </a:r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NEISS (hospitales centinela + bomberos) y cláusula de revisión a 2-3 años: la reforma se mide, no se declama.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548640" y="5084064"/>
            <a:ext cx="365760" cy="365760"/>
          </a:xfrm>
          <a:prstGeom prst="ellipse">
            <a:avLst/>
          </a:prstGeom>
          <a:solidFill>
            <a:srgbClr val="2A7F6F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8" y="5179162"/>
            <a:ext cx="175565" cy="17556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78992" y="5047488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por norma.  </a:t>
            </a:r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reasignación completa: cada RT → organismo; cada trámite → sucesor; continuidad de certificados. Ninguna obligación vigente sin ventanilla.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6190488" y="5084064"/>
            <a:ext cx="365760" cy="365760"/>
          </a:xfrm>
          <a:prstGeom prst="ellipse">
            <a:avLst/>
          </a:prstGeom>
          <a:solidFill>
            <a:srgbClr val="2A7F6F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5586" y="5179162"/>
            <a:ext cx="175565" cy="17556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720840" y="5047488"/>
            <a:ext cx="4928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barata se queda.  </a:t>
            </a:r>
            <a:pPr indent="0" marL="0">
              <a:buNone/>
            </a:pPr>
            <a:r>
              <a:rPr lang="en-US" sz="11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marcado QR y los elementos de identificación de bajo costo son la infraestructura de la vigilancia ex post.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 en cinco fases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75688" cy="3931920"/>
          </a:xfrm>
          <a:prstGeom prst="roundRect">
            <a:avLst>
              <a:gd name="adj" fmla="val 3524"/>
            </a:avLst>
          </a:prstGeom>
          <a:solidFill>
            <a:srgbClr val="EDF1F6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57400"/>
            <a:ext cx="548640" cy="548640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4825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4320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54680"/>
            <a:ext cx="167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acceso a la información: dotación y masa salarial de la DNRT; ejecución física real (Cuenta de Inversión); sanciones por RT; aranceles de certificadoras por familia.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07208" y="1828800"/>
            <a:ext cx="2075688" cy="3931920"/>
          </a:xfrm>
          <a:prstGeom prst="roundRect">
            <a:avLst>
              <a:gd name="adj" fmla="val 3524"/>
            </a:avLst>
          </a:prstGeom>
          <a:solidFill>
            <a:srgbClr val="EDF1F6"/>
          </a:solidFill>
          <a:ln/>
        </p:spPr>
      </p:sp>
      <p:sp>
        <p:nvSpPr>
          <p:cNvPr id="10" name="Shape 8"/>
          <p:cNvSpPr/>
          <p:nvPr/>
        </p:nvSpPr>
        <p:spPr>
          <a:xfrm>
            <a:off x="3008376" y="205740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08376" y="204825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08376" y="274320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008376" y="3154680"/>
            <a:ext cx="167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 supresión + decreto simple. Reasignación sin vacancia del punto focal OTC, el SGT 3 y el coordinador TBT. Migración del sitio de RT (hoy caído).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65776" y="1828800"/>
            <a:ext cx="2075688" cy="3931920"/>
          </a:xfrm>
          <a:prstGeom prst="roundRect">
            <a:avLst>
              <a:gd name="adj" fmla="val 3524"/>
            </a:avLst>
          </a:prstGeom>
          <a:solidFill>
            <a:srgbClr val="EDF1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266944" y="2057400"/>
            <a:ext cx="548640" cy="548640"/>
          </a:xfrm>
          <a:prstGeom prst="ellipse">
            <a:avLst/>
          </a:prstGeom>
          <a:solidFill>
            <a:srgbClr val="2A7F6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66944" y="204825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274320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Transferencias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266944" y="3154680"/>
            <a:ext cx="167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resolución por familia con acta de capacidad del receptor (partida, dotación, métricas) y continuidad de certificados vigentes.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24344" y="1828800"/>
            <a:ext cx="2075688" cy="3931920"/>
          </a:xfrm>
          <a:prstGeom prst="roundRect">
            <a:avLst>
              <a:gd name="adj" fmla="val 3524"/>
            </a:avLst>
          </a:prstGeom>
          <a:solidFill>
            <a:srgbClr val="ED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525512" y="2057400"/>
            <a:ext cx="548640" cy="54864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25512" y="204825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274320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Derogaciones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525512" y="3154680"/>
            <a:ext cx="167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nacionales sin riesgo que los justifique. Los RTM Mercosur van al SGT 3 para revisión o cambian de organismo de aplicación.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82912" y="1828800"/>
            <a:ext cx="2075688" cy="3931920"/>
          </a:xfrm>
          <a:prstGeom prst="roundRect">
            <a:avLst>
              <a:gd name="adj" fmla="val 3524"/>
            </a:avLst>
          </a:prstGeom>
          <a:solidFill>
            <a:srgbClr val="EDF1F6"/>
          </a:solidFill>
          <a:ln/>
        </p:spPr>
      </p:sp>
      <p:sp>
        <p:nvSpPr>
          <p:cNvPr id="25" name="Shape 23"/>
          <p:cNvSpPr/>
          <p:nvPr/>
        </p:nvSpPr>
        <p:spPr>
          <a:xfrm>
            <a:off x="9784080" y="205740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84080" y="204825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274320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3154680"/>
            <a:ext cx="167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vigilancia potenciado en Defensa del Consumidor con metas públicas; alertas/recalls conectados a Safety Gate y CPSC; registro de incidentes; revisión a 2-3 años auditable por AGN/SIGEN.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5566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fases 1 a 3 pueden ir en un único paquete normativo publicado el mismo día; la fase 4 se publica con metas físicas en el presupuesto siguiente.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DEL EXPEDIENTE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falta medir — y qué cifras no usamos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(CON VÍA DE OBTENCIÓN)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Dotación y masa salarial de la DNRT → Mapa del Estado / pedido Ley 27.275 (el presupuesto no abre por dirección).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física real de las 126.000 certificaciones → Cuenta de Inversión (Contaduría General).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 sumarios y sanciones fundados en RT (2019-2025) → pedido de acceso a la información.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privado por familia (aranceles de certificadoras, ensayos, tiempos) → relevamiento con cámaras y certificadoras.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645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QUE ESTA PRESENTACIÓN NO USA (FALLÓ LA VERIFICACIÓN PRIMARIA)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96596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“12.000 trámites anuales eliminados” (solo prensa citando fuentes oficiales, sin documento primario).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“Cazabobos” y “aduana paralela” atribuidas a funcionarios (no constan en ninguna fuente relevada).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guillotina de México/Moldavia/Croacia de la consultora implementadora (contradichas por su propio paper de 2006). Se usa solo Corea (OCDE).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de anteojos “15 M vs 2,5 M” (sin fuente: se usa la estimación sectorial de ~4 de cada 10, 5-7 M unidades/año).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DF1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534924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</a:t>
            </a:r>
            <a:pPr indent="0" marL="0">
              <a:buNone/>
            </a:pPr>
            <a:r>
              <a:rPr lang="en-US" sz="1150" dirty="0">
                <a:solidFill>
                  <a:srgbClr val="22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afirmaciones normativas y 20 citas académicas fueron verificadas contra fuente primaria (InfoLeg, Boletín Oficial, OMC, OCDE, presupuesto DGSIAF) por revisores adversariales independientes. Un error de cita desacredita una presentación entera: por eso lo no verificado se declara.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126.000 trámites firmados por año.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inspecciones propias.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089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no necesita una dirección que firma papeles que nadie controla. Necesita organismos que entiendan el riesgo, lo regulen y lo fiscalicen — y un mercado donde cumplir la ley no sea una desventaja competitiva.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46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Derogar</a:t>
            </a:r>
            <a:pPr indent="0" marL="0">
              <a:buNone/>
            </a:pPr>
            <a:r>
              <a:rPr lang="en-US" sz="18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que no protege.   </a:t>
            </a:r>
            <a:pPr indent="0" marL="0">
              <a:buNone/>
            </a:pPr>
            <a:r>
              <a:rPr lang="en-US" sz="18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</a:t>
            </a:r>
            <a:pPr indent="0" marL="0">
              <a:buNone/>
            </a:pPr>
            <a:r>
              <a:rPr lang="en-US" sz="18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que sí.   </a:t>
            </a:r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Reasignar</a:t>
            </a:r>
            <a:pPr indent="0" marL="0">
              <a:buNone/>
            </a:pPr>
            <a:r>
              <a:rPr lang="en-US" sz="18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indelegable.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1737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243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0" y="34747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9235440" y="3364992"/>
            <a:ext cx="1280160" cy="0"/>
          </a:xfrm>
          <a:prstGeom prst="line">
            <a:avLst/>
          </a:prstGeom>
          <a:noFill/>
          <a:ln w="19050">
            <a:solidFill>
              <a:srgbClr val="3D53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217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sustento completo, con fuentes verificadas: docs/informe-supresion-dnrt.md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Supresión de la Dirección Nacional de Reglamentos Técnicos</dc:title>
  <dc:subject>PptxGenJS Presentation</dc:subject>
  <dc:creator>Propuesta de reforma institucional</dc:creator>
  <cp:lastModifiedBy>Propuesta de reforma institucional</cp:lastModifiedBy>
  <cp:revision>1</cp:revision>
  <dcterms:created xsi:type="dcterms:W3CDTF">2026-09-03T18:06:28Z</dcterms:created>
  <dcterms:modified xsi:type="dcterms:W3CDTF">2026-09-03T18:06:28Z</dcterms:modified>
</cp:coreProperties>
</file>
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Propuesta: suprimir la DNRT derogando los RT que no superan costo-beneficio, delegando los que protegen riesgos reales a organismos sectoriales con fiscalización, y reasignando las funciones residuales OMC/Mercosur. Todo el material citado fue verificado contra fuente primaria.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63840" y="123444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243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5000" dirty="0"/>
          </a:p>
        </p:txBody>
      </p:sp>
      <p:sp>
        <p:nvSpPr>
          <p:cNvPr id="3" name="Text 1"/>
          <p:cNvSpPr txBox="1"/>
          <p:nvPr/>
        </p:nvSpPr>
        <p:spPr>
          <a:xfrm>
            <a:off x="8211312" y="3520440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0" dirty="0"/>
          </a:p>
        </p:txBody>
      </p:sp>
      <p:sp>
        <p:nvSpPr>
          <p:cNvPr id="4" name="Text 2"/>
          <p:cNvSpPr txBox="1"/>
          <p:nvPr/>
        </p:nvSpPr>
        <p:spPr>
          <a:xfrm>
            <a:off x="7863840" y="5440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 de reglamentos técnicos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(OMC) → agosto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595360" y="3310128"/>
            <a:ext cx="1828800" cy="0"/>
          </a:xfrm>
          <a:prstGeom prst="line">
            <a:avLst/>
          </a:prstGeom>
          <a:noFill/>
          <a:ln w="19050">
            <a:solidFill>
              <a:srgbClr val="3D537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REFORMA INSTITUCIONAL · AGOSTO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7040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Supresión de la Dirección Nacional de Reglamentos Técnicos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Derogar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protege.  </a:t>
            </a:r>
            <a:pPr indent="0" marL="0">
              <a:buNone/>
            </a:pPr>
            <a:r>
              <a:rPr lang="en-US" sz="17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Delegar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sí.  </a:t>
            </a:r>
            <a:pPr indent="0" marL="0">
              <a:buNone/>
            </a:pPr>
            <a:r>
              <a:rPr lang="en-US" sz="17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Reasignar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indelegable.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0350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Nacional de Reglamentos Técnicos · Subsecretaría de Comercio Exterior · Secretaría de Industria y Comercio · Ministerio de Economía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propuesta en una página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75304" cy="3749040"/>
          </a:xfrm>
          <a:prstGeom prst="roundRect">
            <a:avLst>
              <a:gd name="adj" fmla="val 2046"/>
            </a:avLst>
          </a:prstGeom>
          <a:solidFill>
            <a:srgbClr val="EDF1F6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847088"/>
            <a:ext cx="566928" cy="566928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073" y="1994489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01952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DEROGAR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57984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reglamentos que no protegen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8346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RT de origen nacional que no supere un análisis costo-beneficio. Criterio (Shavell 1984): los riesgos detectables, atribuibles y demandables se controlan mejor con responsabilidad del fabricante + vigilancia de mercado que con certificación previa.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06824" y="1600200"/>
            <a:ext cx="3575304" cy="3749040"/>
          </a:xfrm>
          <a:prstGeom prst="roundRect">
            <a:avLst>
              <a:gd name="adj" fmla="val 2046"/>
            </a:avLst>
          </a:prstGeom>
          <a:solidFill>
            <a:srgbClr val="EDF1F6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847088"/>
            <a:ext cx="566928" cy="566928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257" y="1994489"/>
            <a:ext cx="272125" cy="27212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66944" y="1901952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DELEGAR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266944" y="2157984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que cubren riesgos reales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62856" y="28346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 organismos sectoriales que entienden el riesgo y fiscalizan de verdad: ANMAT, SRT, Energía, ANSV/Transporte, INTI, ENARGAS y los códigos de edificación locales. Ninguna transferencia sin receptor con presupuesto, inspectores y métricas.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65008" y="1600200"/>
            <a:ext cx="3575304" cy="3749040"/>
          </a:xfrm>
          <a:prstGeom prst="roundRect">
            <a:avLst>
              <a:gd name="adj" fmla="val 2046"/>
            </a:avLst>
          </a:prstGeom>
          <a:solidFill>
            <a:srgbClr val="EDF1F6"/>
          </a:solidFill>
          <a:ln/>
        </p:spPr>
      </p:sp>
      <p:sp>
        <p:nvSpPr>
          <p:cNvPr id="17" name="Shape 13"/>
          <p:cNvSpPr/>
          <p:nvPr/>
        </p:nvSpPr>
        <p:spPr>
          <a:xfrm>
            <a:off x="8321040" y="1847088"/>
            <a:ext cx="566928" cy="566928"/>
          </a:xfrm>
          <a:prstGeom prst="ellipse">
            <a:avLst/>
          </a:prstGeom>
          <a:solidFill>
            <a:srgbClr val="5B769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41" y="1994489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25128" y="1901952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REASIGNAR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025128" y="2157984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funciones indelegables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8346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focal OTC/OMC, coordinación del SGT 3 del Mercosur y coordinador TBT del acuerdo UE-Mercosur → Cancillería (modelo Chile) o instituto técnico (modelo Brasil-INMETRO / EE.UU.-NIST; equivalente local: INTI).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543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Instrumento: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Administrativa de JGM + decreto simple + resoluciones por familia + declaración 15.2 a la OMC.  </a:t>
            </a:r>
            <a:pPr indent="0" marL="0">
              <a:buNone/>
            </a:pPr>
            <a:r>
              <a:rPr lang="en-US" sz="1300" b="1" dirty="0">
                <a:solidFill>
                  <a:srgbClr val="E88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ley, ni facultades delegadas, ni Ley 26.122.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(y qué no es) la DNRT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2834640"/>
          </a:xfrm>
          <a:prstGeom prst="roundRect">
            <a:avLst>
              <a:gd name="adj" fmla="val 2581"/>
            </a:avLst>
          </a:prstGeom>
          <a:solidFill>
            <a:srgbClr val="EDF1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 FORMAL — DA 449/2023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“Elaborar y monitorear la aplicación de Reglamentos Técnicos y Procedimientos de Evaluación de la Conformidad, en el marco del Acuerdo sobre Obstáculos Técnicos al Comercio de la OMC.”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 no es fiscalizar. </a:t>
            </a:r>
            <a:pPr indent="0" marL="0">
              <a:buNone/>
            </a:pPr>
            <a:r>
              <a:rPr lang="en-US" sz="12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mandato no incluye poder de policía ni régimen sancionatorio propio.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691640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QUE HOY CONCENTRA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2057400"/>
            <a:ext cx="402336" cy="402336"/>
          </a:xfrm>
          <a:prstGeom prst="ellipse">
            <a:avLst/>
          </a:prstGeom>
          <a:solidFill>
            <a:srgbClr val="5B7699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5407" y="2162007"/>
            <a:ext cx="193121" cy="19312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967728" y="2020824"/>
            <a:ext cx="4672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 los RT de la órbita de Comercio (7 familias vigentes: eléctricos, EPP, ascensores, construcción, consumo, eficiencia energética, textil-calzado)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0" y="2679192"/>
            <a:ext cx="402336" cy="402336"/>
          </a:xfrm>
          <a:prstGeom prst="ellipse">
            <a:avLst/>
          </a:prstGeom>
          <a:solidFill>
            <a:srgbClr val="5B769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407" y="2783799"/>
            <a:ext cx="193121" cy="19312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967728" y="2642616"/>
            <a:ext cx="4672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 la evaluación de la conformidad (Res. 237/2024): certificadores, DJC, marcado QR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0" y="3300984"/>
            <a:ext cx="402336" cy="402336"/>
          </a:xfrm>
          <a:prstGeom prst="ellipse">
            <a:avLst/>
          </a:prstGeom>
          <a:solidFill>
            <a:srgbClr val="5B769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407" y="3405591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67728" y="3264408"/>
            <a:ext cx="4672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focal OTC-OMC: notificaciones (~45/año) y consultas de otros países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0" y="3922776"/>
            <a:ext cx="402336" cy="402336"/>
          </a:xfrm>
          <a:prstGeom prst="ellipse">
            <a:avLst/>
          </a:prstGeom>
          <a:solidFill>
            <a:srgbClr val="5B769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407" y="4027383"/>
            <a:ext cx="193121" cy="19312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967728" y="3886200"/>
            <a:ext cx="4672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la coordinación del SGT 3 “Reglamentos Técnicos” del Mercosur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F9ECEC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22960" y="4892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SEÑALES DE DETERIORO DE LA PROPIA FUNCIÓN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193792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Acefalía en 2024 </a:t>
            </a:r>
            <a:pPr indent="0" marL="0">
              <a:buNone/>
            </a:pPr>
            <a:r>
              <a:rPr lang="en-US" sz="12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(encomienda de firma, Res. ME 39/2024) con “demoras en la emisión de los certificados” admitidas por la propia área (Disp. 1/2024).   </a:t>
            </a:r>
            <a:pPr indent="0" marL="0">
              <a:buNone/>
            </a:pPr>
            <a:r>
              <a:rPr lang="en-US" sz="1200" b="1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puntofocal.gob.ar fuera de servicio </a:t>
            </a:r>
            <a:pPr indent="0" marL="0">
              <a:buNone/>
            </a:pPr>
            <a:r>
              <a:rPr lang="en-US" sz="12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503 al 31/8/2026), pese a que el acuerdo UE-Mercosur exige un sitio oficial con todos los RT vigentes (art. 5.9, vigente desde el 1/5/2026).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DA 449/2023 (transcripta en Disp. DNRT 33/2023); argentina.gob.ar/economia/industria-y-comercio/reglamentos-tecnicos; Res. ME 39/2024; verificación directa del sitio (31/8/2026).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CENTRAL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Dicta reglas que no puede hacer cumplir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" cy="530352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829532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73352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Sanciona otro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26280" y="1673352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infracciones a los RT se sancionan por la Ley 24.240 y el Decreto 274/2019 — a cargo de la Subsecretaría de Defensa del Consumidor y Lealtad Comercial y de las provincias. La Res. 313/2025 lo dice textualmente.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52928"/>
            <a:ext cx="530352" cy="530352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2" y="2990820"/>
            <a:ext cx="254569" cy="2545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346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Aduana quedó dispensada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834640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Res. 237/2024 (art. 6) retiró a la DGA del control de los RT: el único control sistemático que existía —el de frontera— fue reemplazado por verificación documental ex post, sin cuerpo de inspectores.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4014216"/>
            <a:ext cx="530352" cy="530352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532" y="4152108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9592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primer protocolo de vigilancia llegó en 2026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3995928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Res. 56/2026 aprobó el primer Protocolo de Vigilancia de Mercado, derogando los arts. 23-29 de la Res. 100/1983: más de cuatro décadas de RT sin esquema formalizado de fiscalización.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5175504"/>
            <a:ext cx="530352" cy="530352"/>
          </a:xfrm>
          <a:prstGeom prst="ellipse">
            <a:avLst/>
          </a:prstGeom>
          <a:solidFill>
            <a:srgbClr val="5B7699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32" y="5313396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157216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OMC ya lo había descripto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4526280" y="5157216"/>
            <a:ext cx="7114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WT/TPR/S/412 (2021, §3.211): el monitoreo de la DNRT es “ad hoc; no se fija un plazo pre-establecido para la revisión de los reglamentos técnicos”.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primarias: Res. SIC 237/2024 y 56/2026, Res. SIC 313/2025 (InfoLeg/Boletín Oficial); OMC WT/TPR/S/412.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PRESUPUESTARIA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Estado nunca se propuso fiscalizarla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42616" cy="3566160"/>
          </a:xfrm>
          <a:prstGeom prst="roundRect">
            <a:avLst>
              <a:gd name="adj" fmla="val 2768"/>
            </a:avLst>
          </a:prstGeom>
          <a:solidFill>
            <a:srgbClr val="EDF1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920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126.000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788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firmados por año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2918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física oficial “Certificaciones Técnicas” (proyecto de presupuesto 2025). La producción del área se mide en papeles.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4136" y="1691640"/>
            <a:ext cx="2642616" cy="3566160"/>
          </a:xfrm>
          <a:prstGeom prst="roundRect">
            <a:avLst>
              <a:gd name="adj" fmla="val 2768"/>
            </a:avLst>
          </a:prstGeom>
          <a:solidFill>
            <a:srgbClr val="EDF1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75304" y="1920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75304" y="2788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de inspección propias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75304" y="32918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ninguna meta de vigilancia o fiscalización de RT asociada a la DNRT en toda la jurisdicción 50 (verificado sobre el CSV oficial completo).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9632" y="1691640"/>
            <a:ext cx="2642616" cy="3566160"/>
          </a:xfrm>
          <a:prstGeom prst="roundRect">
            <a:avLst>
              <a:gd name="adj" fmla="val 2768"/>
            </a:avLst>
          </a:prstGeom>
          <a:solidFill>
            <a:srgbClr val="EDF1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76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23.400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88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inspecciones… de otra área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2918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meta de inspección del programa: “Detección de Prácticas Fraudulentas”, de Lealtad Comercial. Cayó 27% (32.000 en 2024).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25128" y="1691640"/>
            <a:ext cx="2642616" cy="3566160"/>
          </a:xfrm>
          <a:prstGeom prst="roundRect">
            <a:avLst>
              <a:gd name="adj" fmla="val 2768"/>
            </a:avLst>
          </a:prstGeom>
          <a:solidFill>
            <a:srgbClr val="EDF1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26296" y="19202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F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 83 M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2788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devengado 2025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329184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“Gestión Comercial Externa” (aloja a la DNRT). El ahorro fiscal directo es marginal: el costo real del régimen lo pagan los privados.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</a:t>
            </a:r>
            <a:pPr indent="0" marL="0">
              <a:buNone/>
            </a:pPr>
            <a:r>
              <a:rPr lang="en-US" sz="13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capacidad inspectiva planificada del programa está en Lealtad Comercial. El caso económico de la supresión no es la caja: son los costos privados evitados y la racionalidad institucional.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metas físicas y crédito de los proyectos de presupuesto 2024-2026, repositorio oficial DGSIAF (dgsiaf-repo.mecon.gob.ar). Presupuestos prorrogados: metas del proyecto oficial del PEN.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mercado que importa la ignora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75304" cy="2880360"/>
          </a:xfrm>
          <a:prstGeom prst="roundRect">
            <a:avLst>
              <a:gd name="adj" fmla="val 2540"/>
            </a:avLst>
          </a:prstGeom>
          <a:solidFill>
            <a:srgbClr val="EDF1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70048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mercado de juguetes es informal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55264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de la CAIJ: contrabando, falsificación y copias que eluden la certificación obligatoria vigente desde 2005 (Res. 163/2005).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06824" y="1691640"/>
            <a:ext cx="3575304" cy="2880360"/>
          </a:xfrm>
          <a:prstGeom prst="roundRect">
            <a:avLst>
              <a:gd name="adj" fmla="val 2540"/>
            </a:avLst>
          </a:prstGeom>
          <a:solidFill>
            <a:srgbClr val="EDF1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35424" y="1901952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 vs 2,5 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535424" y="2670048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anteojos: contrabando vs mercado formal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3255264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del sector óptico: por cada anteojo formal entran seis de contrabando, sin certificación ni trazabilidad.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65008" y="1691640"/>
            <a:ext cx="3575304" cy="2880360"/>
          </a:xfrm>
          <a:prstGeom prst="roundRect">
            <a:avLst>
              <a:gd name="adj" fmla="val 2540"/>
            </a:avLst>
          </a:prstGeom>
          <a:solidFill>
            <a:srgbClr val="EDF1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3608" y="1901952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dic-2025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93608" y="2670048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juguetes retirados por la CPSC, a la venta acá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3255264"/>
            <a:ext cx="31181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CAIJ detectó a la venta online en Argentina juguetes retirados semanas antes en EE.UU. (asfixia, ftalatos, baterías botón), ingresados por courier sin ningún control.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1421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892040"/>
            <a:ext cx="10451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 sin fiscalización = impuesto al formal + ventaja al informal.
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evidencia argentina es directa: el cumplimiento responde a los recursos de inspección, no a la letra de la norma (Ronconi 2010, ILR Review).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sectoriales (CAIJ, cámara óptica) reportadas por prensa: usar como estimaciones sectoriales, no como estadística oficial. Casos CPSC: Infobae 15/12/2025.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EMPÍRICA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dice la literatura (verificada contra fuente)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58968" cy="1389888"/>
          </a:xfrm>
          <a:prstGeom prst="roundRect">
            <a:avLst>
              <a:gd name="adj" fmla="val 3947"/>
            </a:avLst>
          </a:prstGeom>
          <a:solidFill>
            <a:srgbClr val="EDF1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68096" y="1755648"/>
            <a:ext cx="5020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US$ 425.000 por firma (4,7% del valor agregado) 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costo fijo promedio de cumplir estándares de producto en países en desarrollo.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670048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Maskus, Otsuki &amp; Wilson — Banco Mundial, 2005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90488" y="1645920"/>
            <a:ext cx="5458968" cy="1389888"/>
          </a:xfrm>
          <a:prstGeom prst="roundRect">
            <a:avLst>
              <a:gd name="adj" fmla="val 3947"/>
            </a:avLst>
          </a:prstGeom>
          <a:solidFill>
            <a:srgbClr val="ED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9944" y="1755648"/>
            <a:ext cx="5020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~4% manufactura · ~20% agro 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arancel equivalente de las medidas no arancelarias; afectan el 77% del comercio mundial.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9944" y="2670048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UNCTAD – Banco Mundial, 2018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3182112"/>
            <a:ext cx="5458968" cy="1389888"/>
          </a:xfrm>
          <a:prstGeom prst="roundRect">
            <a:avLst>
              <a:gd name="adj" fmla="val 3947"/>
            </a:avLst>
          </a:prstGeom>
          <a:solidFill>
            <a:srgbClr val="EDF1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" y="3291840"/>
            <a:ext cx="5020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regulación de entrada → más informalidad y corrupción 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…y ninguna mejora en la calidad de los bienes (85 países).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420624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Djankov, La Porta, López-de-Silanes &amp; Shleifer — QJE, 2002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90488" y="3182112"/>
            <a:ext cx="5458968" cy="1389888"/>
          </a:xfrm>
          <a:prstGeom prst="roundRect">
            <a:avLst>
              <a:gd name="adj" fmla="val 3947"/>
            </a:avLst>
          </a:prstGeom>
          <a:solidFill>
            <a:srgbClr val="EDF1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9944" y="3291840"/>
            <a:ext cx="5020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cumplimiento sigue a los inspectores, no a la letra 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con datos argentinos: la registración responde a los recursos de inspección provinciales.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9944" y="420624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Ronconi — ILR Review, 2010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4718304"/>
            <a:ext cx="5458968" cy="1389888"/>
          </a:xfrm>
          <a:prstGeom prst="roundRect">
            <a:avLst>
              <a:gd name="adj" fmla="val 3947"/>
            </a:avLst>
          </a:prstGeom>
          <a:solidFill>
            <a:srgbClr val="EDF1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" y="4828032"/>
            <a:ext cx="5020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evidencia de que la certificación previa reduzca accidentes 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“ningún efecto beneficioso significativo de las acciones de la CPSC… demasiado pequeño para estimarse”.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68096" y="5742432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Viscusi — J. Law &amp; Economics, 1985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0488" y="4718304"/>
            <a:ext cx="5458968" cy="1389888"/>
          </a:xfrm>
          <a:prstGeom prst="roundRect">
            <a:avLst>
              <a:gd name="adj" fmla="val 3947"/>
            </a:avLst>
          </a:prstGeom>
          <a:solidFill>
            <a:srgbClr val="EDF1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9944" y="4828032"/>
            <a:ext cx="5020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declaración del proveedor funcionó en la UE 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certificación de tercera parte por DJC aumentó las importaciones sin crisis de seguridad.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5742432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Fliess, Gonzales &amp; Schonfeld — OCDE, 2008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Matices que la propuesta incorpora: algunos RT expanden demanda al reducir asimetrías de información (Cadot et al., OCDE 2018) → análisis caso por caso, nunca derogación indiscriminada.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STOCK YA SE PODÓ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estructura sobrevivió a su objeto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5B76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272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 de RT en Comercio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OMC, Cuadro 3.37 (2021)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0116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23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7373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96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312724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 vigentes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SIC, agosto 2026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80% del stock podado por la propia gestión 2024-2026 — y la dirección sigue en pie.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69164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PODA 2024-2026 (VERIFICADA EN B.O./INFOLEG)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0574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2075688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 49 (DJCP textil) · 108 (7 RT derogados en seco) · 156-159 (fin del control aduanero de etiquetado) · 236-237 (construcción + marco general; Aduana dispensada) · 438 (eficiencia energética)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99008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008376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16-27/2025 (eléctrica, EPP y ascensores a DJC; derogación de cables, presión y válvulas) · Dec. 196 (fin del CHAS) · Dec. 431 (pilas) · Res. 313 (juguetes, bicis, encendedores, anteojos, tableros) · Dec. 892 (equivalencia internacional)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92277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3941064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 56 (primer protocolo de vigilancia de mercado) · Res. Conjunta 1 (pilas por DJC)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421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029200"/>
            <a:ext cx="104515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suprimir el órgano y no solo las normas: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 eliminó el 49% de sus ~11.000 regulaciones en 1998 (OCDE: “logro sin igual”); en 2002 la reducción neta había caído al 33% por normas nuevas. Mientras exista una oficina que se mide en trámites firmados, el stock vuelve a crecer.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INTERNACIONAL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Ningún país serio lo organiza así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EE.UU.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627632"/>
            <a:ext cx="3767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Sectorial puro: CPSC (vigilancia ex post + recalls), FDA, NHTSA — hasta los autos se venden por autocertificación del fabricante (49 U.S.C. §30115). NIST solo coordina normas voluntarias.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190488" y="16276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Unión Europea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82128" y="1627632"/>
            <a:ext cx="3767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esenciales + marcado CE con autoevaluación del fabricante + vigilancia descentralizada (Regl. 2019/1020). Safety Gate: 4.671 alertas y retiros en 2025.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60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Reino Unido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560320"/>
            <a:ext cx="3767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OPSS: un ejecutor horizontal de vigilancia; los reglamentos los dictan los departamentos sectoriales.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190488" y="2560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82128" y="2560320"/>
            <a:ext cx="3767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productos eléctricos los reglamenta y fiscaliza la SEC — organismo del sector energía, no del ministerio de comercio. El punto OTC está en la Cancillería (SUBREI).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9300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Perú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493008"/>
            <a:ext cx="3767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RT los dictan los ministerios sectoriales; MINCETUR solo filtra obstáculos al comercio y notifica a la OMC.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349300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Australia · NZ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882128" y="3493008"/>
            <a:ext cx="3767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Dicta el ministro; fiscalizan ACCC / Commerce Commission; riesgos específicos en reguladores sectoriales.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2569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Brasil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425696"/>
            <a:ext cx="3767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INMETRO (instituto técnico): notificante, enquiry point y soporte del SGT 3.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53328" y="4352544"/>
            <a:ext cx="5596128" cy="932688"/>
          </a:xfrm>
          <a:prstGeom prst="roundRect">
            <a:avLst>
              <a:gd name="adj" fmla="val 5882"/>
            </a:avLst>
          </a:prstGeom>
          <a:solidFill>
            <a:srgbClr val="F9EC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90488" y="4425696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México ⚠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882128" y="4425696"/>
            <a:ext cx="36758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único análogo de la DNRT (DGN en Economía). OCDE 2020: “sin visión cohesiva para promover el cumplimiento”, cultura de cumplimiento “débil”, enforcement solo en sectores exportadores.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7059"/>
            </a:avLst>
          </a:prstGeom>
          <a:solidFill>
            <a:srgbClr val="EDF1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486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patrón: </a:t>
            </a:r>
            <a:pPr indent="0" marL="0">
              <a:buNone/>
            </a:pPr>
            <a:r>
              <a:rPr lang="en-US" sz="12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dicta y fiscaliza quien entiende el riesgo — o se reemplaza la certificación previa por responsabilidad del fabricante + vigilancia dotada. La dirección centralizada en el área de comercio es prescindible; donde existe, la OCDE la señala como el problema.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 · MERCOSUR · UE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obligaciones internacionales no lo impiden — condicionan el cómo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75304" cy="4206240"/>
          </a:xfrm>
          <a:prstGeom prst="roundRect">
            <a:avLst>
              <a:gd name="adj" fmla="val 2046"/>
            </a:avLst>
          </a:prstGeom>
          <a:solidFill>
            <a:srgbClr val="EDF1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F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OMC — Acuerdo OTC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1810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solo tres funciones: autoridad notificante única (art. 10.10), enquiry point (10.1) y transparencia (2.9-2.12). No exige dictar RT ni un organismo determinado.
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oficial OMC: la ubicación “is up to each individual member”; el 90% de los enquiry points opera con 1-4 personas a tiempo parcial. Mudarlo = notificar una declaración 15.2 revisada. Carga argentina: ~45 notificaciones/año.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06824" y="1691640"/>
            <a:ext cx="3575304" cy="4206240"/>
          </a:xfrm>
          <a:prstGeom prst="roundRect">
            <a:avLst>
              <a:gd name="adj" fmla="val 2046"/>
            </a:avLst>
          </a:prstGeom>
          <a:solidFill>
            <a:srgbClr val="ED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35424" y="187452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76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Mercosur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35424" y="2286000"/>
            <a:ext cx="311810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obligación de cumplir las Resoluciones GMC (Ouro Preto, arts. 38/40/42) es del Estado, no de una dirección. Los RTM internalizados no se derogan unilateralmente: se transfieren o se renegocian en el SGT 3.
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representación sectorial ya es práctica: el SGT 11 lo maneja Salud/ANMAT, y ANMAT ya internaliza Resoluciones GMC por disposición propia (Disp. 2576/2026).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65008" y="1691640"/>
            <a:ext cx="3575304" cy="4206240"/>
          </a:xfrm>
          <a:prstGeom prst="roundRect">
            <a:avLst>
              <a:gd name="adj" fmla="val 2046"/>
            </a:avLst>
          </a:prstGeom>
          <a:solidFill>
            <a:srgbClr val="EDF1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93608" y="187452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Acuerdo UE-Mercosur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2286000"/>
            <a:ext cx="311810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TBT vigente desde el 1/5/2026: exige nominar un “coordinador de capítulo” (art. 5.13) — un rol, nominable en cualquier repartición (en la UE lo ejerce la Comisión) — y un sitio oficial con todos los RT vigentes (art. 5.9).
</a:t>
            </a:r>
            <a:pPr indent="0" marL="0">
              <a:buNone/>
            </a:pPr>
            <a:r>
              <a:rPr lang="en-US" sz="1100" b="1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Hoy, con la DNRT en pie, ese sitio (puntofocal.gob.ar) está caído: el statu quo ya incumple.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points comparados: EE.UU. → NIST · Chile → Cancillería (SUBREI) · Brasil → INMETRO · Perú → INACAL + MINCETUR. Fuentes: texto del Acuerdo OTC (wto.org), guía OMC/ITC, iTA cap. 5 (Comisión Europea), Leyes 24.560 y 25.663.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Suprimir la DNRT en tres movimientos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75304" cy="3931920"/>
          </a:xfrm>
          <a:prstGeom prst="roundRect">
            <a:avLst>
              <a:gd name="adj" fmla="val 2046"/>
            </a:avLst>
          </a:prstGeom>
          <a:solidFill>
            <a:srgbClr val="1C2B4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48840"/>
            <a:ext cx="640080" cy="640080"/>
          </a:xfrm>
          <a:prstGeom prst="ellipse">
            <a:avLst/>
          </a:prstGeom>
          <a:solidFill>
            <a:srgbClr val="C127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3152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9718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DEROGAR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RT de origen nacional que no superen costo-beneficio: seguridad eléctrica ya en DJC, etiquetados informativos, productos intermedios. La vigilancia de mercado y la responsabilidad del fabricante los reemplazan.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06824" y="1828800"/>
            <a:ext cx="3575304" cy="3931920"/>
          </a:xfrm>
          <a:prstGeom prst="roundRect">
            <a:avLst>
              <a:gd name="adj" fmla="val 2046"/>
            </a:avLst>
          </a:prstGeom>
          <a:solidFill>
            <a:srgbClr val="1C2B4F"/>
          </a:solidFill>
          <a:ln/>
        </p:spPr>
      </p:sp>
      <p:sp>
        <p:nvSpPr>
          <p:cNvPr id="10" name="Shape 7"/>
          <p:cNvSpPr/>
          <p:nvPr/>
        </p:nvSpPr>
        <p:spPr>
          <a:xfrm>
            <a:off x="4581144" y="2148840"/>
            <a:ext cx="640080" cy="64008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65" y="23152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1144" y="29718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DELEGAR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4581144" y="347472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familia con riesgo real va al organismo que ya tiene la competencia sustantiva y los inspectores: ANMAT, SRT, Energía, ANSV, INTI, ENARGAS, códigos locales. Con partida, dotación y métricas en el mismo acto.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65008" y="1828800"/>
            <a:ext cx="3575304" cy="3931920"/>
          </a:xfrm>
          <a:prstGeom prst="roundRect">
            <a:avLst>
              <a:gd name="adj" fmla="val 2046"/>
            </a:avLst>
          </a:prstGeom>
          <a:solidFill>
            <a:srgbClr val="1C2B4F"/>
          </a:solidFill>
          <a:ln/>
        </p:spPr>
      </p:sp>
      <p:sp>
        <p:nvSpPr>
          <p:cNvPr id="15" name="Shape 11"/>
          <p:cNvSpPr/>
          <p:nvPr/>
        </p:nvSpPr>
        <p:spPr>
          <a:xfrm>
            <a:off x="8339328" y="2148840"/>
            <a:ext cx="640080" cy="640080"/>
          </a:xfrm>
          <a:prstGeom prst="ellipse">
            <a:avLst/>
          </a:prstGeom>
          <a:solidFill>
            <a:srgbClr val="8FA3C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749" y="23152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39328" y="29718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REASIGNAR</a:t>
            </a:r>
            <a:endParaRPr lang="en-US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8339328" y="3474720"/>
            <a:ext cx="3026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focal OTC, SGT 3 y coordinador TBT UE-Mercosur pasan a Cancillería o al INTI, sin un solo día de vacancia. Es lo que hacen Chile, Brasil y EE.UU.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movimientos van en un mismo paquete normativo, con tabla de reasignación norma por norma: ninguna obligación queda vigente sin ventanilla.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DELEGACIÓN · 1 DE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Familias con receptor sectorial real → transferir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011680"/>
                <a:gridCol w="67025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F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F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competencia ya existe (base vigente)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F6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Envases en contacto con alimentos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7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ANMAT / INAL (Salud)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CAA Cap. IV y art. 186 bis; Dec. 815/99. Ya consumado de facto: las GMC 2026 se internalizaron por ANMAT + Agricultura, y la familia ya no figura en el listado de la SIC.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7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ENARGAS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24.076 (art. 52): reglamenta, registra y fiscaliza de punta a punta. La prueba de que el modelo sectorial funciona.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Cascos, autopartes, vehículos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7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ANSV / Transporte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24.449 y Dec. 779/95; el Dec. 196/2025 eliminó el CHAS citando el estudio accidentológico de la propia ANSV; la LCM ya se tramita ante el INTI.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Elementos de protección personal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7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SRT (Trabajo)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Leyes 19.587 y 24.557; Res. SRT 299/2011. Hoy hay doble ventanilla: el producto en Comercio, el uso en SRT/ART.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Etiquetado de eficiencia energética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7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Secretaría de Energía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Dec. 274/2019 (art. 22): Energía ya fija los estándares mínimos; la etiqueta la administra Comercio. Doble regulación explícita del mismo atributo.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Metrología legal (SIMELA)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7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19.511: el INTI ya ejecuta aprobación de modelo, verificaciones y auditorías. El caso más maduro.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Acero, cemento, construcción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7F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Códigos locales + INTI-CIRSOC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seguridad estructural se fiscaliza en obra (jurisdicción local); los reglamentos CIRSOC ya son la referencia técnica nacional.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base de competencia citada fue verificada contra InfoLeg/Boletín Oficial. Condición transversal: ninguna transferencia sin acta de capacidad (partida, dotación inspectiva, métricas públicas).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DELEGACIÓN · 2 DE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Familias sin receptor sectorial → derogar la certificación previa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2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272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eléctrica de baja tensión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DJC del fabricante + reconocimiento internacional (ya vigente: Res. 16/2025 y Dec. 892/2025) + vigilancia de Lealtad Comercial. Se mantiene la trazabilidad QR.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Juguetes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DJC + vigilancia. Condición dura: ensayo de tercera parte obligatorio para productos infantiles — EE.UU. lo votó 407-0 (CPSIA) tras los recalls de 2007; el “modelo americano” no es “sin ensayo”.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Bicicletas infantiles, encendedores, anteojos, tableros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Rotulado + vigilancia (la Res. 313/2025 ya fue en esa dirección).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Etiquetado de textiles y calzado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Información pura al consumidor: se absorbe en el régimen general de lealtad comercial (información engañosa, Dec. 274/2019).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Industriales intermedios (cables, equipos a presión, válvulas)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1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 derogados (Res. 26/2025): el precedente de derogación por costo-beneficio negativo.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562356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jurídico: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reglamentos técnicos Mercosur internalizados nunca se derogan unilateralmente (Ouro Preto, arts. 38/42) — se transfieren de organismo de aplicación o se renegocian en el SGT 3.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 JURÍDICA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hace con la lapicera que ya tiene el Ejecutivo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792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73352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Decisión Administrativa de JGM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73352"/>
            <a:ext cx="6885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 la DA 449/2023 y suprime la DNRT. Las direcciones nacionales son estructura de “primer nivel operativo”: nacen y mueren por DA (art. 100 inc. 1 CN). La DNRT nació así (DA 1080/2020).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79192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65476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66090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Decreto simple (art. 99 inc. 1 CN)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660904"/>
            <a:ext cx="6885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si se mueven objetivos entre secretarías o ministerios. Precedente directo: el Decreto 293/2024 ya reubicó la DNRT una vez.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666744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53028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48456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Resoluciones por familia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648456"/>
            <a:ext cx="6885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cada RT: transferencia al receptor o derogación. Casi todo el stock es de rango resolución (las excepciones —pilas, metrología— ya tienen vía resuelta o requieren análisis puntual).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654296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40580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3600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Declaración 15.2 revisada ante la OMC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4636008"/>
            <a:ext cx="6885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trámite administrativo que muda el punto focal, según la guía oficial de la OMC. No es una renegociación.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7059"/>
            </a:avLst>
          </a:prstGeom>
          <a:solidFill>
            <a:srgbClr val="EDF1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66928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ley. Sin facultades delegadas (vencieron el 8/7/2025). Sin revisión por Ley 26.122. 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Precedentes vigentes: AFIP→ARCA (Dec. 953/2024), INADI (Dec. 696/2024). La vía del Dec. 462/2025 (INTI/INTA, rechazado por el Congreso) no aplica: aquel tocaba organismos creados por ley.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ADVERSARIAL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objeciones serias, respondidas de frente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3977640" cy="1042416"/>
          </a:xfrm>
          <a:prstGeom prst="roundRect">
            <a:avLst>
              <a:gd name="adj" fmla="val 5263"/>
            </a:avLst>
          </a:prstGeom>
          <a:solidFill>
            <a:srgbClr val="F9EC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7373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venden juguetes que la CPSC retiró en EE.UU.”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00600" y="1682496"/>
            <a:ext cx="6839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Cierto — y entraron con la certificación obligatoria vigente: prueba de que el régimen actual no protege el mercado real. Se responde creando un sistema público de alertas y recalls conectado a Safety Gate/CPSC, con obligaciones para los marketplaces.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977640" cy="1042416"/>
          </a:xfrm>
          <a:prstGeom prst="roundRect">
            <a:avLst>
              <a:gd name="adj" fmla="val 5263"/>
            </a:avLst>
          </a:prstGeom>
          <a:solidFill>
            <a:srgbClr val="F9EC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88950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“Transferir no resuelve: los receptores también están débiles.”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834640"/>
            <a:ext cx="6839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objeción más seria (Ronconi: el cumplimiento sigue a los inspectores). Por eso la regla es capacidad primero: ninguna familia se transfiere sin receptor con partida, dotación y métricas; donde no hay receptor, se dota antes la vigilancia de Lealtad Comercial.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968496"/>
            <a:ext cx="3977640" cy="1042416"/>
          </a:xfrm>
          <a:prstGeom prst="roundRect">
            <a:avLst>
              <a:gd name="adj" fmla="val 5263"/>
            </a:avLst>
          </a:prstGeom>
          <a:solidFill>
            <a:srgbClr val="F9EC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4041648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“El Mercosur lo prohíbe.”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3986784"/>
            <a:ext cx="6839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la obligación es del Estado, no de una dirección. Los RTM quedan fuera de la guillotina (se transfieren o renegocian) y el punto focal, el SGT 3 y el coordinador TBT se reasignan sin vacancia, en el mismo instrumento.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3977640" cy="1042416"/>
          </a:xfrm>
          <a:prstGeom prst="roundRect">
            <a:avLst>
              <a:gd name="adj" fmla="val 5263"/>
            </a:avLst>
          </a:prstGeom>
          <a:solidFill>
            <a:srgbClr val="F9EC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5193792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“Grenfell y las ‘leaky homes’ muestran a dónde lleva esto.”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5138928"/>
            <a:ext cx="6839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fallas de certificación capturada o de autodeclaración sin ningún contralor; sus correcciones fortalecieron la vigilancia y el ensayo independiente, no la certificación estatal universal. Por eso el ensayo de tercera parte se mantiene para productos infantiles y alto riesgo.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en contra completo (8 objeciones con fuentes) y sus respuestas están en el informe de sustento (docs/informe-supresion-dnrt.md).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PROPUESTA ABSORBE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Ocho condiciones de diseño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38" y="1777594"/>
            <a:ext cx="175565" cy="1755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645920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vacancia internacional.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instrumento reasigna punto focal OTC, SGT 3 y coordinador TBT UE-Mercosur, y migra el sitio de RT vigentes.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90488" y="1682496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586" y="1777594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20840" y="1645920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RTM Mercosur fuera de la guillotina.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derogan RT de origen nacional; los internalizados se transfieren o renegocian.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2816352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8" y="2911450"/>
            <a:ext cx="175565" cy="1755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78992" y="2779776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primero.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Vigilancia de mercado dotada (presupuesto, plan de muestreo por riesgo, laboratorios) antes o junto con cada baja. La Res. 56/2026 es el embrión — se potencia en Defensa del Consumidor.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190488" y="2816352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586" y="2911450"/>
            <a:ext cx="175565" cy="1755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720840" y="2779776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Tercera parte donde importa.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 independiente obligatorio para productos infantiles y categorías con riesgo letal (desempeño al fuego).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48640" y="3950208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8" y="4045306"/>
            <a:ext cx="175565" cy="17556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78992" y="3913632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recalls públicos.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tipo Safety Gate/CPSC, con feeds automáticos de las jurisdicciones del Dec. 892/2025 y obligaciones para marketplaces.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6190488" y="3950208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586" y="4045306"/>
            <a:ext cx="175565" cy="17556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20840" y="3913632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incidentes.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NEISS (hospitales centinela + bomberos) y cláusula de revisión a 2-3 años: la reforma se mide, no se declama.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548640" y="5084064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738" y="5179162"/>
            <a:ext cx="175565" cy="175565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78992" y="5047488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por norma.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reasignación completa: cada RT → organismo; cada trámite → sucesor; continuidad de certificados. Ninguna obligación vigente sin ventanilla.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6190488" y="5084064"/>
            <a:ext cx="365760" cy="365760"/>
          </a:xfrm>
          <a:prstGeom prst="ellipse">
            <a:avLst/>
          </a:prstGeom>
          <a:solidFill>
            <a:srgbClr val="2A7F6F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5586" y="5179162"/>
            <a:ext cx="175565" cy="175565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720840" y="5047488"/>
            <a:ext cx="4928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barata se queda.  </a:t>
            </a:r>
            <a:pPr indent="0" marL="0">
              <a:buNone/>
            </a:pPr>
            <a:r>
              <a:rPr lang="en-US" sz="11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marcado QR y los elementos de identificación de bajo costo son la infraestructura de la vigilancia ex post.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Secuencia en cinco fases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75688" cy="3931920"/>
          </a:xfrm>
          <a:prstGeom prst="roundRect">
            <a:avLst>
              <a:gd name="adj" fmla="val 3524"/>
            </a:avLst>
          </a:prstGeom>
          <a:solidFill>
            <a:srgbClr val="EDF1F6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57400"/>
            <a:ext cx="548640" cy="548640"/>
          </a:xfrm>
          <a:prstGeom prst="ellipse">
            <a:avLst/>
          </a:prstGeom>
          <a:solidFill>
            <a:srgbClr val="5B769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04825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4320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154680"/>
            <a:ext cx="167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de acceso a la información: dotación y masa salarial de la DNRT; ejecución física real (Cuenta de Inversión); sanciones por RT; aranceles de certificadoras por familia.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07208" y="1828800"/>
            <a:ext cx="2075688" cy="3931920"/>
          </a:xfrm>
          <a:prstGeom prst="roundRect">
            <a:avLst>
              <a:gd name="adj" fmla="val 3524"/>
            </a:avLst>
          </a:prstGeom>
          <a:solidFill>
            <a:srgbClr val="EDF1F6"/>
          </a:solidFill>
          <a:ln/>
        </p:spPr>
      </p:sp>
      <p:sp>
        <p:nvSpPr>
          <p:cNvPr id="10" name="Shape 8"/>
          <p:cNvSpPr/>
          <p:nvPr/>
        </p:nvSpPr>
        <p:spPr>
          <a:xfrm>
            <a:off x="3008376" y="2057400"/>
            <a:ext cx="548640" cy="54864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8376" y="204825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08376" y="274320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008376" y="3154680"/>
            <a:ext cx="167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de supresión + decreto simple. Reasignación sin vacancia del punto focal OTC, el SGT 3 y el coordinador TBT. Migración del sitio de RT (hoy caído).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65776" y="1828800"/>
            <a:ext cx="2075688" cy="3931920"/>
          </a:xfrm>
          <a:prstGeom prst="roundRect">
            <a:avLst>
              <a:gd name="adj" fmla="val 3524"/>
            </a:avLst>
          </a:prstGeom>
          <a:solidFill>
            <a:srgbClr val="EDF1F6"/>
          </a:solidFill>
          <a:ln/>
        </p:spPr>
      </p:sp>
      <p:sp>
        <p:nvSpPr>
          <p:cNvPr id="15" name="Shape 13"/>
          <p:cNvSpPr/>
          <p:nvPr/>
        </p:nvSpPr>
        <p:spPr>
          <a:xfrm>
            <a:off x="5266944" y="2057400"/>
            <a:ext cx="548640" cy="548640"/>
          </a:xfrm>
          <a:prstGeom prst="ellipse">
            <a:avLst/>
          </a:prstGeom>
          <a:solidFill>
            <a:srgbClr val="2A7F6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66944" y="204825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66944" y="274320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Transferencias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266944" y="3154680"/>
            <a:ext cx="167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resolución por familia con acta de capacidad del receptor (partida, dotación, métricas) y continuidad de certificados vigentes.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24344" y="1828800"/>
            <a:ext cx="2075688" cy="3931920"/>
          </a:xfrm>
          <a:prstGeom prst="roundRect">
            <a:avLst>
              <a:gd name="adj" fmla="val 3524"/>
            </a:avLst>
          </a:prstGeom>
          <a:solidFill>
            <a:srgbClr val="EDF1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525512" y="2057400"/>
            <a:ext cx="548640" cy="548640"/>
          </a:xfrm>
          <a:prstGeom prst="ellipse">
            <a:avLst/>
          </a:prstGeom>
          <a:solidFill>
            <a:srgbClr val="C127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25512" y="204825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274320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Derogaciones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525512" y="3154680"/>
            <a:ext cx="167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nacionales sin riesgo que los justifique. Los RTM Mercosur van al SGT 3 para revisión o cambian de organismo de aplicación.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82912" y="1828800"/>
            <a:ext cx="2075688" cy="3931920"/>
          </a:xfrm>
          <a:prstGeom prst="roundRect">
            <a:avLst>
              <a:gd name="adj" fmla="val 3524"/>
            </a:avLst>
          </a:prstGeom>
          <a:solidFill>
            <a:srgbClr val="EDF1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784080" y="2057400"/>
            <a:ext cx="548640" cy="54864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84080" y="204825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274320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Vigilancia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154680"/>
            <a:ext cx="167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vigilancia potenciado en Defensa del Consumidor con metas públicas; alertas/recalls conectados a Safety Gate y CPSC; registro de incidentes; revisión a 2-3 años auditable por AGN/SIGEN.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5566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fases 1 a 3 pueden ir en un único paquete normativo publicado el mismo día; la fase 4 se publica con metas físicas en el presupuesto siguiente.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DEL EXPEDIENTE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falta medir — y qué cifras no usamos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7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(CON VÍA DE OBTENCIÓN)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Dotación y masa salarial de la DNRT → Mapa del Estado / pedido Ley 27.275 (el presupuesto no abre por dirección).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física real de las 126.000 certificaciones → Cuenta de Inversión (Contaduría General).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 de sumarios y sanciones fundados en RT (2019-2025) → pedido de acceso a la información.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privado por familia (aranceles de certificadoras, ensayos, tiempos) → relevamiento con cámaras y certificadoras.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6459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1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QUE ESTA PRESENTACIÓN NO USA (FALLÓ LA VERIFICACIÓN PRIMARIA)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96596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“12.000 trámites anuales eliminados” (solo prensa citando fuentes oficiales, sin documento primario).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“Cazabobos” y “aduana paralela” atribuidas a funcionarios (no constan en ninguna fuente relevada).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de guillotina de México/Moldavia/Croacia de la consultora implementadora (contradichas por su propio paper de 2006). Se usa solo Corea (OCDE).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de países del Anexo I del Dec. 892/2025 (publicada solo en la edición web del B.O.: cotejar antes de citar).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DF1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34924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</a:t>
            </a:r>
            <a:pPr indent="0" marL="0">
              <a:buNone/>
            </a:pPr>
            <a:r>
              <a:rPr lang="en-US" sz="1150" dirty="0">
                <a:solidFill>
                  <a:srgbClr val="223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afirmaciones normativas y 20 citas académicas fueron verificadas contra fuente primaria (InfoLeg, Boletín Oficial, OMC, OCDE, presupuesto DGSIAF) por revisores adversariales independientes. Un error de cita desacredita una presentación entera: por eso lo no verificado se declara.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126.000 trámites firmados por año.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Cero inspecciones propias.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no necesita una dirección que firma papeles que nadie controla. Necesita organismos que entiendan el riesgo, lo regulen y lo fiscalicen — y un mercado donde cumplir la ley no sea una desventaja competitiva.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46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Derogar</a:t>
            </a:r>
            <a:pPr indent="0" marL="0">
              <a:buNone/>
            </a:pPr>
            <a:r>
              <a:rPr lang="en-US" sz="1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que no protege.   </a:t>
            </a:r>
            <a:pPr indent="0" marL="0">
              <a:buNone/>
            </a:pPr>
            <a:r>
              <a:rPr lang="en-US" sz="18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Delegar</a:t>
            </a:r>
            <a:pPr indent="0" marL="0">
              <a:buNone/>
            </a:pPr>
            <a:r>
              <a:rPr lang="en-US" sz="1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que sí.   </a:t>
            </a:r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Reasignar</a:t>
            </a:r>
            <a:pPr indent="0" marL="0">
              <a:buNone/>
            </a:pPr>
            <a:r>
              <a:rPr lang="en-US" sz="1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 indelegable.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173736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2436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347472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C127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0" dirty="0"/>
          </a:p>
        </p:txBody>
      </p:sp>
      <p:sp>
        <p:nvSpPr>
          <p:cNvPr id="7" name="Shape 5"/>
          <p:cNvSpPr/>
          <p:nvPr/>
        </p:nvSpPr>
        <p:spPr>
          <a:xfrm>
            <a:off x="9235440" y="3364992"/>
            <a:ext cx="1280160" cy="0"/>
          </a:xfrm>
          <a:prstGeom prst="line">
            <a:avLst/>
          </a:prstGeom>
          <a:noFill/>
          <a:ln w="19050">
            <a:solidFill>
              <a:srgbClr val="3D537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sustento completo, con fuentes verificadas: docs/informe-supresion-dnrt.md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Supresión de la Dirección Nacional de Reglamentos Técnicos</dc:title>
  <dc:subject>PptxGenJS Presentation</dc:subject>
  <dc:creator>Propuesta de reforma institucional</dc:creator>
  <cp:lastModifiedBy>Propuesta de reforma institucional</cp:lastModifiedBy>
  <cp:revision>1</cp:revision>
  <dcterms:created xsi:type="dcterms:W3CDTF">2026-08-31T18:44:48Z</dcterms:created>
  <dcterms:modified xsi:type="dcterms:W3CDTF">2026-08-31T18:44:48Z</dcterms:modified>
</cp:coreProperties>
</file>